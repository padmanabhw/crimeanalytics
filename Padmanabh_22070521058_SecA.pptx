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70" r:id="rId6"/>
    <p:sldId id="271" r:id="rId7"/>
    <p:sldId id="261" r:id="rId8"/>
    <p:sldId id="262" r:id="rId9"/>
    <p:sldId id="272" r:id="rId10"/>
    <p:sldId id="263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41"/>
  </p:normalViewPr>
  <p:slideViewPr>
    <p:cSldViewPr snapToGrid="0">
      <p:cViewPr varScale="1">
        <p:scale>
          <a:sx n="121" d="100"/>
          <a:sy n="121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7AEC-B0BF-06BA-6838-39E9C0658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BD5FC-CCB6-2FC3-F9B7-B6399A74A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57D05-D43D-62FC-DEAA-343FBE2B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5DBC-B8BB-C45D-B01E-6A9E1C27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25CF5-CBBF-8B40-F345-298AC733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9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63ED-33C2-4CE0-9976-E1D5E36A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6337-156E-1F62-657E-CF12BE704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AC9FA-AD0A-8B7A-36B2-29B9402F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BB46C-2DE3-3143-185B-EFD6FD7C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A45B4-CB88-73C4-4A99-CD003568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0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43A7-1504-1343-974A-55066E11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DADAA-D351-B0D5-14EB-283D5F961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D7B20-2E38-6071-13C9-F0E5653E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2CCCC-08A2-99FF-65B9-BC52EF81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66B31-2AB7-7D84-8BAF-1595FED4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9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21C3-55F5-AD13-5474-F7EF180B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D014-6827-DEB3-463A-8CD5BBA69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0A6A8-AC77-478D-9CC9-029ABC733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DFAED-DCE1-8EB1-AF1F-101EC245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0B374-065F-53EF-1FE9-5DDE2F5B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CF648-7742-BF08-593D-86542AB8D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6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D6B5-0388-7EE8-5A32-CA0ADB7A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9152E-1E72-1B88-6E8A-13C994C84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D4214-B813-47FF-09DF-29997B1A7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BCF8B-DA8F-A390-92F5-B75B38F55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02A34-1363-10F6-F898-69D188B1A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38448-3672-F9D9-EEC0-49CC461A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FB954-5431-813E-515D-07632AD9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0EA9C-C0BC-5350-2166-CB1CDA8C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3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D62E-6137-C677-0A91-97F85544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C4BF0-F887-C2CC-1B40-AE176269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DCF79-FFF4-19FC-F72C-0AE0874A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91B7-96C2-1FA3-0D14-0BF4C033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9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59DCD-A14C-1C33-E509-821325B0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59910-280B-056D-9FA8-7ADB42FD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9A57F-A73A-9195-A009-EDC05CE7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58B1-76BD-7F22-355A-5DED6E17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8EBDA-9CB2-7901-42CF-282CC6C46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6976D-95CB-E0E2-6AF3-2C9C67CCD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4175-C3D0-E731-E7F1-0D421A7B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5985F-10D8-1A78-8BF3-8A3CA268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F7806-B6AA-8639-61D6-4736B715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5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CD6-9848-C02C-0085-8FD0F6DFB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380CC-2322-FDE9-3D99-370D41E5B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30A27-3B51-888C-F248-A1FAE392C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25CF0-232E-103B-5F46-44C6E53C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494E0-BE04-D3DC-A764-A4EB545C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1C888-8530-13C6-93FA-ECA183A6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0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2195-E838-B409-DA11-C1E43D7C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1771F-13B1-D2C8-8D48-E18E8D1A9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0D6EA-07BD-F2F0-15CA-C321571E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244E7-2593-60AD-A34C-7B1DC48C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3DF6E-92BB-8603-E4CA-CCB13FB1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9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1321F-2FFF-D210-CD23-30CEBD3EC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80406-E87D-31C2-6F95-09D8CB00B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8C368-CE61-C022-508F-A4D911B8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4A1D6-7C30-5B39-63C7-2E695879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D4CD0-E2DF-98E6-043B-5C3E90DA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2038E-BBFF-EA29-B751-691ACAEC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0986E-FEEA-99FD-D456-F01C9AB1F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165A4-84E8-40C3-41B8-FBA3A2DE0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1CE1-A7DD-F540-A919-E4EAB7752C6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4BCD-2AF9-4752-0B51-EE8BBFB49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3D6A6-2EB8-480B-54F5-4590B10A3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CECA1-7E46-4B4B-969C-AA10E27EA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4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0" y="2456026"/>
            <a:ext cx="12192000" cy="1323439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Analysis of Crime Data using Machine Learning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Symbiosis Institute of Technology, Nagpur Campus</a:t>
            </a:r>
            <a:endParaRPr lang="ko-KR" alt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Data Science Presentation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914170" y="4299468"/>
            <a:ext cx="639009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Padmanabh</a:t>
            </a:r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Wanikar</a:t>
            </a:r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VII Sec C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96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3" name="Rectangle 2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7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5847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4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C2FFB65-D3A7-C7D9-D4DB-3D10DF6C692C}"/>
              </a:ext>
            </a:extLst>
          </p:cNvPr>
          <p:cNvSpPr txBox="1"/>
          <p:nvPr/>
        </p:nvSpPr>
        <p:spPr>
          <a:xfrm>
            <a:off x="166248" y="797828"/>
            <a:ext cx="61538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Machine Learning on Crime Data</a:t>
            </a:r>
          </a:p>
          <a:p>
            <a:r>
              <a:rPr lang="en-IN" dirty="0"/>
              <a:t>A summary of Regression, Clustering, Classification, and Deep Learning models applied to the districtwise-ipc-crime-by-juveniles-2017-onwards data.</a:t>
            </a:r>
            <a:endParaRPr lang="en-IN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6C95B5-D1AB-1C58-4970-4A3FB1974AE0}"/>
              </a:ext>
            </a:extLst>
          </p:cNvPr>
          <p:cNvSpPr txBox="1"/>
          <p:nvPr/>
        </p:nvSpPr>
        <p:spPr>
          <a:xfrm>
            <a:off x="214901" y="2066295"/>
            <a:ext cx="61538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Introduction &amp; Data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Objective: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, cluster, and predict crime patterns using various ML techniques.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istrictwise-ipc-crime-by-juveniles-2017-onward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Target Variables: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murder (for Regression)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crime_level</a:t>
            </a:r>
            <a:r>
              <a:rPr lang="en-IN" dirty="0"/>
              <a:t> (Binary: High/Low, based on median total crimes) (for Classification)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Feature Engineering: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Grouped 116 individual crime columns into 4 main categories: </a:t>
            </a:r>
            <a:r>
              <a:rPr lang="en-IN" dirty="0" err="1"/>
              <a:t>violent_crimes_total</a:t>
            </a:r>
            <a:r>
              <a:rPr lang="en-IN" dirty="0"/>
              <a:t>, </a:t>
            </a:r>
            <a:r>
              <a:rPr lang="en-IN" dirty="0" err="1"/>
              <a:t>property_crimes_total</a:t>
            </a:r>
            <a:r>
              <a:rPr lang="en-IN" dirty="0"/>
              <a:t>, </a:t>
            </a:r>
            <a:r>
              <a:rPr lang="en-IN" dirty="0" err="1"/>
              <a:t>crimes_against_women_total</a:t>
            </a:r>
            <a:r>
              <a:rPr lang="en-IN" dirty="0"/>
              <a:t>, and </a:t>
            </a:r>
            <a:r>
              <a:rPr lang="en-IN" dirty="0" err="1"/>
              <a:t>negligence_deaths_total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Also used all 116 columns as predictors for a comprehensive model.</a:t>
            </a:r>
          </a:p>
        </p:txBody>
      </p:sp>
    </p:spTree>
    <p:extLst>
      <p:ext uri="{BB962C8B-B14F-4D97-AF65-F5344CB8AC3E}">
        <p14:creationId xmlns:p14="http://schemas.microsoft.com/office/powerpoint/2010/main" val="188573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7B6094-371C-CDC7-2FC1-02F4C58ECEB4}"/>
              </a:ext>
            </a:extLst>
          </p:cNvPr>
          <p:cNvSpPr txBox="1"/>
          <p:nvPr/>
        </p:nvSpPr>
        <p:spPr>
          <a:xfrm>
            <a:off x="1015811" y="1308649"/>
            <a:ext cx="61538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Section 1: Regression (Predicting Murder Rates)</a:t>
            </a:r>
          </a:p>
          <a:p>
            <a:r>
              <a:rPr lang="en-IN" b="1" dirty="0"/>
              <a:t>: Regression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Goal:</a:t>
            </a:r>
            <a:r>
              <a:rPr lang="en-IN" dirty="0"/>
              <a:t> To predict the numeric value of 'Murder' incidents based on other crime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Models Used: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Simple Linear Regression (SLR)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Multiple Linear Regression (MLR) with Backward Elimination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r>
              <a:rPr lang="en-IN" dirty="0"/>
              <a:t> Regressor</a:t>
            </a:r>
          </a:p>
        </p:txBody>
      </p:sp>
    </p:spTree>
    <p:extLst>
      <p:ext uri="{BB962C8B-B14F-4D97-AF65-F5344CB8AC3E}">
        <p14:creationId xmlns:p14="http://schemas.microsoft.com/office/powerpoint/2010/main" val="332806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8D84695-818A-5029-D239-03EB0234EFD6}"/>
              </a:ext>
            </a:extLst>
          </p:cNvPr>
          <p:cNvSpPr txBox="1"/>
          <p:nvPr/>
        </p:nvSpPr>
        <p:spPr>
          <a:xfrm>
            <a:off x="166248" y="812902"/>
            <a:ext cx="61630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Regression Models &amp;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Simple Linear Regression (SLR):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'Murder' vs. the 4 main crime categories.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Best R-squared (Violent Crimes):</a:t>
            </a:r>
            <a:r>
              <a:rPr lang="en-IN" dirty="0"/>
              <a:t> </a:t>
            </a:r>
            <a:r>
              <a:rPr lang="en-IN" b="1" dirty="0"/>
              <a:t>0.3307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'Murder' vs. the Top 10 individual crime columns.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Top Predictor (</a:t>
            </a:r>
            <a:r>
              <a:rPr lang="en-IN" i="1" dirty="0" err="1"/>
              <a:t>ofnc_affect_humn_body</a:t>
            </a:r>
            <a:r>
              <a:rPr lang="en-IN" i="1" dirty="0"/>
              <a:t>):</a:t>
            </a:r>
            <a:r>
              <a:rPr lang="en-IN" dirty="0"/>
              <a:t> R-squared = </a:t>
            </a:r>
            <a:r>
              <a:rPr lang="en-IN" b="1" dirty="0"/>
              <a:t>0.4016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Multiple Linear Regression (MLR):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Used Backward Elimination (p &lt; 0.05) on all 116 crime columns.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Final model used </a:t>
            </a:r>
            <a:r>
              <a:rPr lang="en-IN" b="1" dirty="0"/>
              <a:t>68 significant predictors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Result: </a:t>
            </a:r>
            <a:r>
              <a:rPr lang="en-IN" b="1" dirty="0"/>
              <a:t>Adjusted R-squared = 0.760</a:t>
            </a:r>
            <a:r>
              <a:rPr lang="en-IN" dirty="0"/>
              <a:t> (A strong predictive model).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XGBoost</a:t>
            </a:r>
            <a:r>
              <a:rPr lang="en-IN" b="1" dirty="0"/>
              <a:t> Regressor: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Used the 4 main categories as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Result: R-squared = </a:t>
            </a:r>
            <a:r>
              <a:rPr lang="en-IN" b="1" dirty="0"/>
              <a:t>0.3577</a:t>
            </a:r>
            <a:r>
              <a:rPr lang="en-IN" dirty="0"/>
              <a:t> (Slightly better than SLR with the same features).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9EDBE73-32F9-88EF-A6FE-E6504C5B7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120" y="670333"/>
            <a:ext cx="3683515" cy="235503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1FD48CE-188F-52F3-7B8B-4F1B7577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706" y="2942156"/>
            <a:ext cx="3683515" cy="23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1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EACF38-06CB-7510-CC6B-9E6F2304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38" y="267313"/>
            <a:ext cx="6051331" cy="3548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734F94-C509-8146-7D3C-24B1C4462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22" y="714485"/>
            <a:ext cx="4258660" cy="3504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92CD80-2372-5B78-E39F-A31DEE1BE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710" y="3881420"/>
            <a:ext cx="3575269" cy="2976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A3F7F-5839-513E-C262-EDECA6BC9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229" y="4154559"/>
            <a:ext cx="3525860" cy="22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5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C890AC-7F00-7248-B05C-2600B1ED3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698500"/>
            <a:ext cx="75438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4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2874E4-6C00-177D-DD73-111DE2019827}"/>
              </a:ext>
            </a:extLst>
          </p:cNvPr>
          <p:cNvSpPr txBox="1"/>
          <p:nvPr/>
        </p:nvSpPr>
        <p:spPr>
          <a:xfrm>
            <a:off x="363132" y="1001983"/>
            <a:ext cx="61538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Section 2: Clustering (Grouping Districts by Crime Profile)</a:t>
            </a:r>
          </a:p>
          <a:p>
            <a:r>
              <a:rPr lang="en-IN" b="1" dirty="0"/>
              <a:t>Clustering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Goal:</a:t>
            </a:r>
            <a:r>
              <a:rPr lang="en-IN" dirty="0"/>
              <a:t> To find natural, unsupervised groupings (clusters) of districts based on their crime profiles (using the 4 main categories).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Models Used: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K-Means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DBSCAN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Hierarchical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Gaussian Mixture Model (GMM)</a:t>
            </a:r>
          </a:p>
        </p:txBody>
      </p:sp>
    </p:spTree>
    <p:extLst>
      <p:ext uri="{BB962C8B-B14F-4D97-AF65-F5344CB8AC3E}">
        <p14:creationId xmlns:p14="http://schemas.microsoft.com/office/powerpoint/2010/main" val="2428661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0933AAF-5801-A55F-B806-875563A95487}"/>
              </a:ext>
            </a:extLst>
          </p:cNvPr>
          <p:cNvSpPr txBox="1"/>
          <p:nvPr/>
        </p:nvSpPr>
        <p:spPr>
          <a:xfrm>
            <a:off x="302104" y="938243"/>
            <a:ext cx="61538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Clustering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K-Means Clustering: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The Elbow Method suggested an optimal </a:t>
            </a:r>
            <a:r>
              <a:rPr lang="en-IN" b="1" dirty="0"/>
              <a:t>k=4 clusters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PCA visualization showed these 4 distinct groups.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Profile:</a:t>
            </a:r>
            <a:r>
              <a:rPr lang="en-IN" dirty="0"/>
              <a:t> Clusters were identified, e.g., 'High All-Crime', 'Low All-Crime', and mixed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DBSCAN: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Identified </a:t>
            </a:r>
            <a:r>
              <a:rPr lang="en-IN" b="1" dirty="0"/>
              <a:t>13 smaller clusters</a:t>
            </a:r>
            <a:r>
              <a:rPr lang="en-IN" dirty="0"/>
              <a:t> and </a:t>
            </a:r>
            <a:r>
              <a:rPr lang="en-IN" b="1" dirty="0"/>
              <a:t>401 noise points</a:t>
            </a:r>
            <a:r>
              <a:rPr lang="en-IN" dirty="0"/>
              <a:t> (outliers).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This is useful for finding districts with unique crime patterns that don't fit the main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GMM &amp; Hierarchical: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GMM also identified 4 primary clusters, similar to K-Means.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dendrogram was created to visualize the hierarchical merging of groups.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09FD14D-C88F-D9BB-DB42-1856B045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334" y="737759"/>
            <a:ext cx="4206984" cy="264632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52488DA-92EC-6BA7-37AD-54FA5FA35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884" y="3473431"/>
            <a:ext cx="3807592" cy="267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1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A7C439-6071-C586-BF9C-8F05B32B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26" y="302611"/>
            <a:ext cx="4944898" cy="3468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5C35C-D87A-87FA-1EDC-7F7569DB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793" y="302611"/>
            <a:ext cx="5284076" cy="3004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BBBDD-EC54-F98A-01C2-A96F5EFF5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93" y="3673708"/>
            <a:ext cx="3893864" cy="273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3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94E029B-A9C9-BEB5-F64A-F83B393C6E82}"/>
              </a:ext>
            </a:extLst>
          </p:cNvPr>
          <p:cNvSpPr txBox="1"/>
          <p:nvPr/>
        </p:nvSpPr>
        <p:spPr>
          <a:xfrm>
            <a:off x="1318287" y="1207577"/>
            <a:ext cx="61538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Visualization Techniques (PCA &amp; t-SNE)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Used to reduce the 4 feature dimensions (or 116 for the full dataset) down to 2 dimensions for plotting.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Techniques Used: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Principal Component Analysis (PCA):</a:t>
            </a:r>
            <a:r>
              <a:rPr lang="en-IN" dirty="0"/>
              <a:t> Used to visualize all clustering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t-SNE:</a:t>
            </a:r>
            <a:r>
              <a:rPr lang="en-IN" dirty="0"/>
              <a:t> Also used to visualize the relationships between districts.</a:t>
            </a:r>
          </a:p>
        </p:txBody>
      </p:sp>
    </p:spTree>
    <p:extLst>
      <p:ext uri="{BB962C8B-B14F-4D97-AF65-F5344CB8AC3E}">
        <p14:creationId xmlns:p14="http://schemas.microsoft.com/office/powerpoint/2010/main" val="35095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393EBA-FE61-DCB0-2ABA-8133715187D3}"/>
              </a:ext>
            </a:extLst>
          </p:cNvPr>
          <p:cNvSpPr txBox="1"/>
          <p:nvPr/>
        </p:nvSpPr>
        <p:spPr>
          <a:xfrm>
            <a:off x="525293" y="1090982"/>
            <a:ext cx="61538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Section 3: Classification (Predicting High/Low Crime Level)</a:t>
            </a:r>
          </a:p>
          <a:p>
            <a:r>
              <a:rPr lang="en-IN" b="1" dirty="0"/>
              <a:t>Classification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Goal:</a:t>
            </a:r>
            <a:r>
              <a:rPr lang="en-IN" dirty="0"/>
              <a:t> To predict a binary category: Is a district 'High Crime' or 'Low Crime'?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Target Variable (</a:t>
            </a:r>
            <a:r>
              <a:rPr lang="en-IN" b="1" dirty="0" err="1"/>
              <a:t>crime_level</a:t>
            </a:r>
            <a:r>
              <a:rPr lang="en-IN" b="1" dirty="0"/>
              <a:t>):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0 (Low):</a:t>
            </a:r>
            <a:r>
              <a:rPr lang="en-IN" dirty="0"/>
              <a:t> Total crimes ≤ 12 (the median)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1 (High):</a:t>
            </a:r>
            <a:r>
              <a:rPr lang="en-IN" dirty="0"/>
              <a:t> Total crimes &gt; 12 (the median)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Features:</a:t>
            </a:r>
            <a:r>
              <a:rPr lang="en-IN" dirty="0"/>
              <a:t> The 4 main crime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Models Used: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Random Forest Classifier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Support Vector Machine (SVM)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K-Nearest </a:t>
            </a:r>
            <a:r>
              <a:rPr lang="en-IN" dirty="0" err="1"/>
              <a:t>Neighbors</a:t>
            </a:r>
            <a:r>
              <a:rPr lang="en-IN" dirty="0"/>
              <a:t> (KNN)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C5AFFBA-242A-2177-B2DC-7C3622CFF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907" y="2409401"/>
            <a:ext cx="57658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2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7249A3-7A0A-B173-90E7-754CF05A77FB}"/>
              </a:ext>
            </a:extLst>
          </p:cNvPr>
          <p:cNvSpPr txBox="1"/>
          <p:nvPr/>
        </p:nvSpPr>
        <p:spPr>
          <a:xfrm>
            <a:off x="913728" y="1484576"/>
            <a:ext cx="61538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Classification Model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 traditional models performed very well, showing that the 4 categories are strong predictors of the overall crime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Random Forest:</a:t>
            </a:r>
            <a:r>
              <a:rPr lang="en-IN" dirty="0"/>
              <a:t> 88.64%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SVM (RBF Kernel):</a:t>
            </a:r>
            <a:r>
              <a:rPr lang="en-IN" dirty="0"/>
              <a:t> 88.17%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Logistic Regression:</a:t>
            </a:r>
            <a:r>
              <a:rPr lang="en-IN" dirty="0"/>
              <a:t> 88.08%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K-Nearest </a:t>
            </a:r>
            <a:r>
              <a:rPr lang="en-IN" b="1" dirty="0" err="1"/>
              <a:t>Neighbors</a:t>
            </a:r>
            <a:r>
              <a:rPr lang="en-IN" b="1" dirty="0"/>
              <a:t> (k=5):</a:t>
            </a:r>
            <a:r>
              <a:rPr lang="en-IN" dirty="0"/>
              <a:t> 87.79% Accuracy</a:t>
            </a:r>
          </a:p>
        </p:txBody>
      </p:sp>
    </p:spTree>
    <p:extLst>
      <p:ext uri="{BB962C8B-B14F-4D97-AF65-F5344CB8AC3E}">
        <p14:creationId xmlns:p14="http://schemas.microsoft.com/office/powerpoint/2010/main" val="118982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AF385C1-E427-D6CA-32FC-0962E0EDAD85}"/>
              </a:ext>
            </a:extLst>
          </p:cNvPr>
          <p:cNvSpPr txBox="1"/>
          <p:nvPr/>
        </p:nvSpPr>
        <p:spPr>
          <a:xfrm>
            <a:off x="682348" y="1265165"/>
            <a:ext cx="61538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Section 4: Deep Learning (Neural Networks)</a:t>
            </a:r>
          </a:p>
          <a:p>
            <a:r>
              <a:rPr lang="en-IN" b="1" dirty="0"/>
              <a:t>Deep Learning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To apply advanced Sequential Neural Networks (using </a:t>
            </a:r>
            <a:r>
              <a:rPr lang="en-IN" dirty="0" err="1"/>
              <a:t>Keras</a:t>
            </a:r>
            <a:r>
              <a:rPr lang="en-IN" dirty="0"/>
              <a:t>/TensorFlow) to both the classification and regression tasks.</a:t>
            </a:r>
          </a:p>
          <a:p>
            <a:r>
              <a:rPr lang="en-IN" b="1" dirty="0"/>
              <a:t>Deep Learning -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Predict '</a:t>
            </a:r>
            <a:r>
              <a:rPr lang="en-IN" dirty="0" err="1"/>
              <a:t>crime_level</a:t>
            </a:r>
            <a:r>
              <a:rPr lang="en-IN" dirty="0"/>
              <a:t>' (High/Low) using the 4 main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Model:</a:t>
            </a:r>
            <a:r>
              <a:rPr lang="en-IN" dirty="0"/>
              <a:t> 3-Layer Sequential Network (64 nodes, 32 nodes, 1 output node) with '</a:t>
            </a:r>
            <a:r>
              <a:rPr lang="en-IN" dirty="0" err="1"/>
              <a:t>ReLU</a:t>
            </a:r>
            <a:r>
              <a:rPr lang="en-IN" dirty="0"/>
              <a:t>' and 'Sigmoid' activations.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Loss:</a:t>
            </a:r>
            <a:r>
              <a:rPr lang="en-IN" dirty="0"/>
              <a:t> '</a:t>
            </a:r>
            <a:r>
              <a:rPr lang="en-IN" dirty="0" err="1"/>
              <a:t>binary_crossentropy</a:t>
            </a:r>
            <a:r>
              <a:rPr lang="en-IN" dirty="0"/>
              <a:t>'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Result (Test Data):</a:t>
            </a:r>
            <a:r>
              <a:rPr lang="en-IN" dirty="0"/>
              <a:t> </a:t>
            </a:r>
            <a:r>
              <a:rPr lang="en-IN" b="1" dirty="0"/>
              <a:t>90.14% Accuracy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Conclusion:</a:t>
            </a:r>
            <a:r>
              <a:rPr lang="en-IN" dirty="0"/>
              <a:t> The deep learning model slightly outperformed all other classification models.</a:t>
            </a:r>
          </a:p>
        </p:txBody>
      </p:sp>
    </p:spTree>
    <p:extLst>
      <p:ext uri="{BB962C8B-B14F-4D97-AF65-F5344CB8AC3E}">
        <p14:creationId xmlns:p14="http://schemas.microsoft.com/office/powerpoint/2010/main" val="117938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1A8EBE7-002D-DE0A-D1A3-37DFDEA57E55}"/>
              </a:ext>
            </a:extLst>
          </p:cNvPr>
          <p:cNvSpPr txBox="1"/>
          <p:nvPr/>
        </p:nvSpPr>
        <p:spPr>
          <a:xfrm>
            <a:off x="616478" y="1119463"/>
            <a:ext cx="61538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Deep Learning -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Predict 'murder' (numeric) using the 4 main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Model:</a:t>
            </a:r>
            <a:r>
              <a:rPr lang="en-IN" dirty="0"/>
              <a:t> 3-Layer Sequential Network (64 nodes, 32 nodes, 1 output node) with '</a:t>
            </a:r>
            <a:r>
              <a:rPr lang="en-IN" dirty="0" err="1"/>
              <a:t>ReLU</a:t>
            </a:r>
            <a:r>
              <a:rPr lang="en-IN" dirty="0"/>
              <a:t>' and 'Linear' activations.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Loss:</a:t>
            </a:r>
            <a:r>
              <a:rPr lang="en-IN" dirty="0"/>
              <a:t> '</a:t>
            </a:r>
            <a:r>
              <a:rPr lang="en-IN" dirty="0" err="1"/>
              <a:t>mean_squared_error</a:t>
            </a:r>
            <a:r>
              <a:rPr lang="en-IN" dirty="0"/>
              <a:t>'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Result (Test Data):</a:t>
            </a:r>
            <a:r>
              <a:rPr lang="en-IN" dirty="0"/>
              <a:t> </a:t>
            </a:r>
            <a:r>
              <a:rPr lang="en-IN" b="1" dirty="0"/>
              <a:t>R-squared: 0.3541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Conclusion:</a:t>
            </a:r>
            <a:r>
              <a:rPr lang="en-IN" dirty="0"/>
              <a:t> This performed similarly to SLR/</a:t>
            </a:r>
            <a:r>
              <a:rPr lang="en-IN" dirty="0" err="1"/>
              <a:t>XGBoost</a:t>
            </a:r>
            <a:r>
              <a:rPr lang="en-IN" dirty="0"/>
              <a:t> on the same 4 features, but was not as strong as the 68-feature MLR model.</a:t>
            </a:r>
          </a:p>
        </p:txBody>
      </p:sp>
    </p:spTree>
    <p:extLst>
      <p:ext uri="{BB962C8B-B14F-4D97-AF65-F5344CB8AC3E}">
        <p14:creationId xmlns:p14="http://schemas.microsoft.com/office/powerpoint/2010/main" val="313653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40871E-4ABE-2B2F-9BDF-C653AB94291F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526F1-E40D-3D26-9984-554211DCDA90}"/>
              </a:ext>
            </a:extLst>
          </p:cNvPr>
          <p:cNvSpPr/>
          <p:nvPr/>
        </p:nvSpPr>
        <p:spPr>
          <a:xfrm>
            <a:off x="214" y="3722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endParaRPr lang="en-US" altLang="ko-KR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04671-4188-3B43-06A8-B07679E01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8" y="75004"/>
            <a:ext cx="1343005" cy="575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A02B82-2D07-20ED-099F-904076A139A0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00DF09BC-25BB-8FFF-89FA-78B32980A2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0B3BF089-3156-B2D4-8362-5BCAA93FFC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16B7E7C6-434B-645A-EE0B-359ED6E6D23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83D50754-D199-A46E-6B59-048664ED998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72E3562D-1E36-8B89-07CA-7AAD9972236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6A31C6DC-0022-C810-060D-81C4FB84FD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0090591B-92C3-E89C-5EE8-3A6192A4E7D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B6337332-838A-E74B-6E5F-93A4EB05CBB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9D719DE-22E0-1C7C-ECAE-7B9BF1B04B28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AECFEFAC-B422-0229-C01B-9973E9C6616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21933EBF-103F-589B-5E26-95F588FD181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579D4928-72FC-DBEB-BD36-686D2224B50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5CA20627-DD5A-BD07-918C-752B7628720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8317A61C-23F6-4336-6C57-3F4519011AD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8B84EBCE-2DA6-27BF-F62C-DBDD95868DE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24EE7516-1431-8651-4605-0EC73B6C330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7462177D-791E-5997-1995-9DB610FA1FE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C54C7295-8EB1-BFC0-C54C-07A5B4E50AE9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6E3A046E-B6DF-B8DA-C69E-BBAB2425770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2E6B759F-3858-2138-F85A-661F133C7C8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F0E7139-010B-48B5-DEAF-41B807D349F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494FBFF0-F2C8-3A43-A2F6-C52DF649F7C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37885D15-C42B-9FB5-E5F6-1EAD6ADDE08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00A91265-CB7B-12B3-55A0-F8BA8D6D9DB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999BA1E6-1099-3240-A98F-13EC0361205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09939D40-129B-C8C9-BEC2-8D7750BF1DD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F5AB4286-7326-70B2-2B22-B95827BC669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856F0FBF-9381-B26C-DEA8-E0878F01BFD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BF7E59E3-01B8-9D47-7ACD-432627F87DC3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228F80E-1EA9-B62F-383E-135384DE33D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7D844EE9-723C-826B-5773-F7EF0FA009E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8DA69C9-38CF-4D55-79E9-900CCE9289B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D7D26F80-C5A2-EDEB-FEBC-16C5D5F85F72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151095B9-6FC6-B760-1911-B278A263A83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6BDB7AFE-FA60-3F08-5485-3B090E204D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5D21FDD-09F7-D2AD-5583-D67F744A9A5B}"/>
              </a:ext>
            </a:extLst>
          </p:cNvPr>
          <p:cNvSpPr txBox="1"/>
          <p:nvPr/>
        </p:nvSpPr>
        <p:spPr>
          <a:xfrm>
            <a:off x="567825" y="1201680"/>
            <a:ext cx="61538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Summary &amp;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Regression:</a:t>
            </a:r>
            <a:r>
              <a:rPr lang="en-IN" dirty="0"/>
              <a:t> Predicting 'Murder' is complex. Simple models on 4 features have low R² (~0.35), but a comprehensive MLR model with 68 features is highly effective (Adj. R² = 0.760).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Clustering:</a:t>
            </a:r>
            <a:r>
              <a:rPr lang="en-IN" dirty="0"/>
              <a:t> Districts can be clearly grouped into 4 distinct profiles (K-Means/GMM) or </a:t>
            </a:r>
            <a:r>
              <a:rPr lang="en-IN" dirty="0" err="1"/>
              <a:t>analyzed</a:t>
            </a:r>
            <a:r>
              <a:rPr lang="en-IN" dirty="0"/>
              <a:t> for outliers (DBSCAN).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Classification:</a:t>
            </a:r>
            <a:r>
              <a:rPr lang="en-IN" dirty="0"/>
              <a:t> Predicting a simple 'High' or 'Low' crime level is very accurate (~88-90%) using just the 4 main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Deep Learning:</a:t>
            </a:r>
            <a:r>
              <a:rPr lang="en-IN" dirty="0"/>
              <a:t> Provided the best accuracy for the classification task (90.14%).</a:t>
            </a:r>
          </a:p>
        </p:txBody>
      </p:sp>
    </p:spTree>
    <p:extLst>
      <p:ext uri="{BB962C8B-B14F-4D97-AF65-F5344CB8AC3E}">
        <p14:creationId xmlns:p14="http://schemas.microsoft.com/office/powerpoint/2010/main" val="1051859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970</Words>
  <Application>Microsoft Macintosh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PADMANABH JAGDISH WANIKAR</dc:creator>
  <cp:lastModifiedBy>PADMANABH JAGDISH WANIKAR</cp:lastModifiedBy>
  <cp:revision>3</cp:revision>
  <dcterms:created xsi:type="dcterms:W3CDTF">2025-11-03T06:31:05Z</dcterms:created>
  <dcterms:modified xsi:type="dcterms:W3CDTF">2025-11-04T14:46:09Z</dcterms:modified>
</cp:coreProperties>
</file>